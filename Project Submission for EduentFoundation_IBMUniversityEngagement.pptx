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83" r:id="rId2"/>
    <p:sldId id="257" r:id="rId3"/>
    <p:sldId id="282" r:id="rId4"/>
    <p:sldId id="285" r:id="rId5"/>
    <p:sldId id="278" r:id="rId6"/>
    <p:sldId id="279" r:id="rId7"/>
    <p:sldId id="262" r:id="rId8"/>
    <p:sldId id="264" r:id="rId9"/>
    <p:sldId id="277" r:id="rId10"/>
    <p:sldId id="286" r:id="rId11"/>
    <p:sldId id="287" r:id="rId12"/>
    <p:sldId id="280" r:id="rId13"/>
    <p:sldId id="288" r:id="rId14"/>
    <p:sldId id="289" r:id="rId15"/>
    <p:sldId id="27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0" d="100"/>
          <a:sy n="50" d="100"/>
        </p:scale>
        <p:origin x="30"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vedantbmore/watsonx_ai/"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040801883"/>
              </p:ext>
            </p:extLst>
          </p:nvPr>
        </p:nvGraphicFramePr>
        <p:xfrm>
          <a:off x="1299257" y="2600315"/>
          <a:ext cx="9380935"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29320">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ctr" rtl="0">
                        <a:spcBef>
                          <a:spcPts val="0"/>
                        </a:spcBef>
                        <a:spcAft>
                          <a:spcPts val="0"/>
                        </a:spcAft>
                        <a:buNone/>
                      </a:pPr>
                      <a:r>
                        <a:rPr lang="en-US" sz="2000" dirty="0"/>
                        <a:t>Vedant More</a:t>
                      </a:r>
                      <a:endParaRPr sz="2000"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sz="1800"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US" sz="2000" dirty="0"/>
                        <a:t>vedantbmore@gmail.com</a:t>
                      </a:r>
                      <a:endParaRPr sz="2000"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US" sz="2000" dirty="0"/>
                        <a:t>+91 9987151427</a:t>
                      </a:r>
                      <a:endParaRPr sz="2000"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dirty="0"/>
              <a:t>Education</a:t>
            </a:r>
            <a:endParaRPr lang="en-IN" sz="2400"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it-IT" sz="2400" u="sng" dirty="0"/>
              <a:t>CareerCompass – AI Career Guidance Assistant</a:t>
            </a:r>
            <a:endParaRPr lang="en-IN" sz="2400" b="1" u="sng" dirty="0">
              <a:highlight>
                <a:srgbClr val="FFFF00"/>
              </a:highlight>
            </a:endParaRPr>
          </a:p>
        </p:txBody>
      </p:sp>
      <p:pic>
        <p:nvPicPr>
          <p:cNvPr id="6" name="Picture 5">
            <a:extLst>
              <a:ext uri="{FF2B5EF4-FFF2-40B4-BE49-F238E27FC236}">
                <a16:creationId xmlns:a16="http://schemas.microsoft.com/office/drawing/2014/main" id="{39B89195-9DD5-C335-383C-B6331EE97C30}"/>
              </a:ext>
            </a:extLst>
          </p:cNvPr>
          <p:cNvPicPr>
            <a:picLocks noChangeAspect="1"/>
          </p:cNvPicPr>
          <p:nvPr/>
        </p:nvPicPr>
        <p:blipFill>
          <a:blip r:embed="rId3"/>
          <a:stretch>
            <a:fillRect/>
          </a:stretch>
        </p:blipFill>
        <p:spPr>
          <a:xfrm>
            <a:off x="4255490" y="3675888"/>
            <a:ext cx="760158" cy="94871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232202"/>
          </a:xfrm>
          <a:prstGeom prst="rect">
            <a:avLst/>
          </a:prstGeom>
          <a:noFill/>
        </p:spPr>
        <p:txBody>
          <a:bodyPr wrap="square" rtlCol="0">
            <a:spAutoFit/>
          </a:bodyPr>
          <a:lstStyle/>
          <a:p>
            <a:pPr fontAlgn="base"/>
            <a:r>
              <a:rPr lang="en-US" sz="2000" b="1" dirty="0"/>
              <a:t>Problem Statement : Career Guide</a:t>
            </a:r>
            <a:r>
              <a:rPr lang="en-US" sz="2000" dirty="0"/>
              <a:t> </a:t>
            </a:r>
          </a:p>
          <a:p>
            <a:pPr fontAlgn="base"/>
            <a:endParaRPr lang="en-US" sz="2000" b="1" dirty="0"/>
          </a:p>
          <a:p>
            <a:pPr fontAlgn="base"/>
            <a:r>
              <a:rPr lang="en-US" sz="2000" b="1" dirty="0"/>
              <a:t>The Challenge</a:t>
            </a:r>
            <a:r>
              <a:rPr lang="en-US" sz="2000" dirty="0"/>
              <a:t> </a:t>
            </a:r>
          </a:p>
          <a:p>
            <a:pPr marL="342900" indent="-342900">
              <a:buFont typeface="Arial" panose="020B0604020202020204" pitchFamily="34" charset="0"/>
              <a:buChar char="•"/>
            </a:pPr>
            <a:r>
              <a:rPr lang="en-US" sz="2000" dirty="0"/>
              <a:t>Choosing the right career is one of the biggest challenges faced by students after Class 10, Class 12, or graduation. Many students are unsure about which course matches their interests, skills, or future goals. Although information is available on the internet, it is often scattered across different websites, making it difficult to understand and compare options.</a:t>
            </a:r>
          </a:p>
          <a:p>
            <a:endParaRPr lang="en-US" sz="2000" dirty="0"/>
          </a:p>
          <a:p>
            <a:pPr marL="342900" indent="-342900">
              <a:buFont typeface="Arial" panose="020B0604020202020204" pitchFamily="34" charset="0"/>
              <a:buChar char="•"/>
            </a:pPr>
            <a:r>
              <a:rPr lang="en-US" sz="2000" dirty="0"/>
              <a:t>Professional career counselling is not affordable or easily accessible for everyone. Because of this, many students end up making decisions based on incomplete information or advice from others.</a:t>
            </a:r>
          </a:p>
          <a:p>
            <a:endParaRPr lang="en-US" sz="2000" dirty="0"/>
          </a:p>
          <a:p>
            <a:pPr marL="342900" indent="-342900">
              <a:buFont typeface="Arial" panose="020B0604020202020204" pitchFamily="34" charset="0"/>
              <a:buChar char="•"/>
            </a:pPr>
            <a:r>
              <a:rPr lang="en-US" sz="2000" dirty="0"/>
              <a:t>The goal of this project is to provide students with a simple AI-powered assistant that can answer career-related questions instantly and guide them toward suitable educational and career paths.</a:t>
            </a:r>
          </a:p>
          <a:p>
            <a:pPr fontAlgn="base"/>
            <a:endParaRPr lang="en-US" sz="2000"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4278094"/>
          </a:xfrm>
          <a:prstGeom prst="rect">
            <a:avLst/>
          </a:prstGeom>
          <a:noFill/>
        </p:spPr>
        <p:txBody>
          <a:bodyPr wrap="square" rtlCol="0">
            <a:spAutoFit/>
          </a:bodyPr>
          <a:lstStyle/>
          <a:p>
            <a:pPr fontAlgn="base"/>
            <a:endParaRPr lang="en-US" sz="2400" b="1" dirty="0"/>
          </a:p>
          <a:p>
            <a:r>
              <a:rPr lang="en-US" sz="2000" b="1" dirty="0"/>
              <a:t>Proposed Solution: AI-Powered Guidance Assistant</a:t>
            </a:r>
          </a:p>
          <a:p>
            <a:endParaRPr lang="en-US" sz="2000" b="1" dirty="0"/>
          </a:p>
          <a:p>
            <a:pPr marL="342900" indent="-342900">
              <a:buFont typeface="Arial" panose="020B0604020202020204" pitchFamily="34" charset="0"/>
              <a:buChar char="•"/>
            </a:pPr>
            <a:r>
              <a:rPr lang="en-US" sz="2000" dirty="0"/>
              <a:t>To solve this problem, I developed </a:t>
            </a:r>
            <a:r>
              <a:rPr lang="en-US" sz="2000" b="1" dirty="0" err="1"/>
              <a:t>CareerCompass</a:t>
            </a:r>
            <a:r>
              <a:rPr lang="en-US" sz="2000" dirty="0"/>
              <a:t>, an AI-powered career guidance assistant using </a:t>
            </a:r>
            <a:r>
              <a:rPr lang="en-US" sz="2000" b="1" dirty="0"/>
              <a:t>IBM </a:t>
            </a:r>
            <a:r>
              <a:rPr lang="en-US" sz="2000" b="1" dirty="0" err="1"/>
              <a:t>watsonx</a:t>
            </a:r>
            <a:r>
              <a:rPr lang="en-US" sz="2000" b="1" dirty="0"/>
              <a:t> Assistant</a:t>
            </a:r>
            <a:r>
              <a:rPr lang="en-US" sz="2000" dirty="0"/>
              <a:t>.</a:t>
            </a:r>
          </a:p>
          <a:p>
            <a:pPr marL="342900" indent="-342900">
              <a:buFont typeface="Arial" panose="020B0604020202020204" pitchFamily="34" charset="0"/>
              <a:buChar char="•"/>
            </a:pPr>
            <a:r>
              <a:rPr lang="en-US" sz="2000" dirty="0"/>
              <a:t>The assistant interacts with users in a conversational way and provides guidance based on their questions. It can explain different career options, suggest suitable courses, describe required skills, and answer common career-related doubts.</a:t>
            </a:r>
          </a:p>
          <a:p>
            <a:pPr marL="342900" indent="-342900">
              <a:buFont typeface="Arial" panose="020B0604020202020204" pitchFamily="34" charset="0"/>
              <a:buChar char="•"/>
            </a:pPr>
            <a:r>
              <a:rPr lang="en-US" sz="2000" dirty="0"/>
              <a:t>The assistant is integrated into a responsive website, allowing users to access it easily from their browser without installing any application.</a:t>
            </a:r>
          </a:p>
          <a:p>
            <a:pPr marL="342900" indent="-342900">
              <a:buFont typeface="Arial" panose="020B0604020202020204" pitchFamily="34" charset="0"/>
              <a:buChar char="•"/>
            </a:pPr>
            <a:r>
              <a:rPr lang="en-US" sz="2000" dirty="0"/>
              <a:t>The main objective of the project is to make career guidance simple, accessible, and available anytime for students.</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552450" y="560832"/>
            <a:ext cx="7123176" cy="461665"/>
          </a:xfrm>
          <a:prstGeom prst="rect">
            <a:avLst/>
          </a:prstGeom>
          <a:noFill/>
        </p:spPr>
        <p:txBody>
          <a:bodyPr wrap="square" lIns="91440" tIns="45720" rIns="91440" bIns="45720" rtlCol="0" anchor="t">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04850" y="1022497"/>
            <a:ext cx="10587990" cy="5575309"/>
          </a:xfrm>
          <a:prstGeom prst="rect">
            <a:avLst/>
          </a:prstGeom>
          <a:noFill/>
        </p:spPr>
        <p:txBody>
          <a:bodyPr wrap="square" lIns="91440" tIns="45720" rIns="91440" bIns="45720" rtlCol="0" anchor="t">
            <a:spAutoFit/>
          </a:bodyPr>
          <a:lstStyle/>
          <a:p>
            <a:pPr marL="342900" indent="-342900">
              <a:lnSpc>
                <a:spcPct val="150000"/>
              </a:lnSpc>
              <a:buFont typeface="Arial" panose="020B0604020202020204" pitchFamily="34" charset="0"/>
              <a:buChar char="•"/>
            </a:pPr>
            <a:r>
              <a:rPr lang="en-US" sz="2000" b="1" dirty="0"/>
              <a:t>IBM </a:t>
            </a:r>
            <a:r>
              <a:rPr lang="en-US" sz="2000" b="1" dirty="0" err="1"/>
              <a:t>watsonx</a:t>
            </a:r>
            <a:r>
              <a:rPr lang="en-US" sz="2000" b="1" dirty="0"/>
              <a:t> Assistant – </a:t>
            </a:r>
            <a:r>
              <a:rPr lang="en-US" sz="2000" dirty="0"/>
              <a:t>Used to build the AI chatbot that understands user questions and provides career guidance.</a:t>
            </a:r>
          </a:p>
          <a:p>
            <a:pPr marL="342900" indent="-342900">
              <a:lnSpc>
                <a:spcPct val="150000"/>
              </a:lnSpc>
              <a:buFont typeface="Arial" panose="020B0604020202020204" pitchFamily="34" charset="0"/>
              <a:buChar char="•"/>
            </a:pPr>
            <a:r>
              <a:rPr lang="en-US" sz="2000" b="1" dirty="0"/>
              <a:t>IBM Granite Foundation Model - </a:t>
            </a:r>
            <a:r>
              <a:rPr lang="en-US" sz="2000" dirty="0"/>
              <a:t>Used to generate accurate, natural, and meaningful responses for users.</a:t>
            </a:r>
          </a:p>
          <a:p>
            <a:pPr marL="342900" indent="-342900">
              <a:lnSpc>
                <a:spcPct val="150000"/>
              </a:lnSpc>
              <a:buFont typeface="Arial" panose="020B0604020202020204" pitchFamily="34" charset="0"/>
              <a:buChar char="•"/>
            </a:pPr>
            <a:r>
              <a:rPr lang="en-US" sz="2000" b="1" dirty="0"/>
              <a:t>HTML5 - </a:t>
            </a:r>
            <a:r>
              <a:rPr lang="en-US" sz="2000" dirty="0"/>
              <a:t>Used to create the basic structure and content of the website.</a:t>
            </a:r>
          </a:p>
          <a:p>
            <a:pPr marL="342900" indent="-342900">
              <a:lnSpc>
                <a:spcPct val="150000"/>
              </a:lnSpc>
              <a:buFont typeface="Arial" panose="020B0604020202020204" pitchFamily="34" charset="0"/>
              <a:buChar char="•"/>
            </a:pPr>
            <a:r>
              <a:rPr lang="en-US" sz="2000" b="1" dirty="0"/>
              <a:t>CSS3 - </a:t>
            </a:r>
            <a:r>
              <a:rPr lang="en-US" sz="2000" dirty="0"/>
              <a:t>Used to design the website and make it visually attractive and responsive.</a:t>
            </a:r>
          </a:p>
          <a:p>
            <a:pPr marL="342900" indent="-342900">
              <a:lnSpc>
                <a:spcPct val="150000"/>
              </a:lnSpc>
              <a:buFont typeface="Arial" panose="020B0604020202020204" pitchFamily="34" charset="0"/>
              <a:buChar char="•"/>
            </a:pPr>
            <a:r>
              <a:rPr lang="en-US" sz="2000" b="1" dirty="0"/>
              <a:t>JavaScript - </a:t>
            </a:r>
            <a:r>
              <a:rPr lang="en-US" sz="2000" dirty="0"/>
              <a:t>Used to add interactivity and connect the website with the AI assistant.</a:t>
            </a:r>
          </a:p>
          <a:p>
            <a:pPr marL="342900" indent="-342900">
              <a:lnSpc>
                <a:spcPct val="150000"/>
              </a:lnSpc>
              <a:buFont typeface="Arial" panose="020B0604020202020204" pitchFamily="34" charset="0"/>
              <a:buChar char="•"/>
            </a:pPr>
            <a:r>
              <a:rPr lang="en-US" sz="2000" b="1" dirty="0"/>
              <a:t>GitHub Pages - </a:t>
            </a:r>
            <a:r>
              <a:rPr lang="en-US" sz="2000" dirty="0"/>
              <a:t>Used to host the website online so anyone can access it through a web browser.</a:t>
            </a:r>
          </a:p>
          <a:p>
            <a:pPr marL="342900" indent="-342900">
              <a:lnSpc>
                <a:spcPct val="150000"/>
              </a:lnSpc>
              <a:buFont typeface="Arial" panose="020B0604020202020204" pitchFamily="34" charset="0"/>
              <a:buChar char="•"/>
            </a:pPr>
            <a:r>
              <a:rPr lang="en-US" sz="2000" b="1" dirty="0"/>
              <a:t>Visual Studio Code - </a:t>
            </a:r>
            <a:r>
              <a:rPr lang="en-US" sz="2000" dirty="0"/>
              <a:t>Used as the code editor to develop, test, and manage the project files.</a:t>
            </a:r>
          </a:p>
          <a:p>
            <a:pPr marL="285750" indent="-285750">
              <a:lnSpc>
                <a:spcPct val="150000"/>
              </a:lnSpc>
              <a:buFont typeface="Arial" panose="020B0604020202020204" pitchFamily="34" charset="0"/>
              <a:buChar char="•"/>
            </a:pPr>
            <a:r>
              <a:rPr lang="en-US" sz="2000" b="1" dirty="0"/>
              <a:t>BOB (from IBM) </a:t>
            </a:r>
            <a:r>
              <a:rPr lang="en-US" sz="2000" dirty="0"/>
              <a:t>– Used to dynamically generate a stunning website within VS Code  </a:t>
            </a:r>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613790" y="347247"/>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IN" sz="2800" b="1" dirty="0"/>
              <a:t>IBM </a:t>
            </a:r>
            <a:r>
              <a:rPr lang="en-IN" sz="2800" b="1" dirty="0" err="1"/>
              <a:t>watsonx</a:t>
            </a:r>
            <a:r>
              <a:rPr lang="en-IN" sz="2800" b="1" dirty="0"/>
              <a:t> Assistant Workflow</a:t>
            </a:r>
            <a:r>
              <a:rPr lang="en-US" sz="2800" b="1" dirty="0">
                <a:sym typeface="Times New Roman"/>
              </a:rPr>
              <a:t>-</a:t>
            </a:r>
            <a:endParaRPr sz="2800" b="1" dirty="0">
              <a:sym typeface="Times New Roman"/>
            </a:endParaRPr>
          </a:p>
        </p:txBody>
      </p:sp>
      <p:pic>
        <p:nvPicPr>
          <p:cNvPr id="7" name="Picture 6">
            <a:extLst>
              <a:ext uri="{FF2B5EF4-FFF2-40B4-BE49-F238E27FC236}">
                <a16:creationId xmlns:a16="http://schemas.microsoft.com/office/drawing/2014/main" id="{A5C5A670-782F-3CFB-23BD-59329D11C879}"/>
              </a:ext>
            </a:extLst>
          </p:cNvPr>
          <p:cNvPicPr>
            <a:picLocks noChangeAspect="1"/>
          </p:cNvPicPr>
          <p:nvPr/>
        </p:nvPicPr>
        <p:blipFill>
          <a:blip r:embed="rId3"/>
          <a:stretch>
            <a:fillRect/>
          </a:stretch>
        </p:blipFill>
        <p:spPr>
          <a:xfrm rot="16200000">
            <a:off x="3577101" y="-2061700"/>
            <a:ext cx="4771098" cy="11925299"/>
          </a:xfrm>
          <a:prstGeom prst="rect">
            <a:avLst/>
          </a:prstGeom>
        </p:spPr>
      </p:pic>
      <p:sp>
        <p:nvSpPr>
          <p:cNvPr id="8" name="TextBox 7">
            <a:extLst>
              <a:ext uri="{FF2B5EF4-FFF2-40B4-BE49-F238E27FC236}">
                <a16:creationId xmlns:a16="http://schemas.microsoft.com/office/drawing/2014/main" id="{21C80420-AC9F-F036-C39F-3CC9498DE932}"/>
              </a:ext>
            </a:extLst>
          </p:cNvPr>
          <p:cNvSpPr txBox="1"/>
          <p:nvPr/>
        </p:nvSpPr>
        <p:spPr>
          <a:xfrm>
            <a:off x="613790" y="774622"/>
            <a:ext cx="1504950" cy="253916"/>
          </a:xfrm>
          <a:prstGeom prst="rect">
            <a:avLst/>
          </a:prstGeom>
          <a:noFill/>
        </p:spPr>
        <p:txBody>
          <a:bodyPr wrap="square" rtlCol="0">
            <a:spAutoFit/>
          </a:bodyPr>
          <a:lstStyle/>
          <a:p>
            <a:r>
              <a:rPr lang="en-US" sz="1050" dirty="0">
                <a:solidFill>
                  <a:schemeClr val="bg1">
                    <a:lumMod val="65000"/>
                  </a:schemeClr>
                </a:solidFill>
              </a:rPr>
              <a:t>Tilt for clarity</a:t>
            </a:r>
            <a:endParaRPr lang="en-IN" sz="1050" dirty="0">
              <a:solidFill>
                <a:schemeClr val="bg1">
                  <a:lumMod val="65000"/>
                </a:schemeClr>
              </a:solidFill>
            </a:endParaRPr>
          </a:p>
        </p:txBody>
      </p:sp>
    </p:spTree>
    <p:extLst>
      <p:ext uri="{BB962C8B-B14F-4D97-AF65-F5344CB8AC3E}">
        <p14:creationId xmlns:p14="http://schemas.microsoft.com/office/powerpoint/2010/main" val="2772501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3200" b="1" dirty="0">
                <a:solidFill>
                  <a:schemeClr val="dk1"/>
                </a:solidFill>
                <a:latin typeface="Calibri"/>
                <a:ea typeface="Calibri"/>
                <a:cs typeface="Calibri"/>
                <a:sym typeface="Calibri"/>
              </a:rPr>
              <a:t>Architecture blueprint</a:t>
            </a:r>
            <a:endParaRPr lang="en-US" sz="3200" dirty="0"/>
          </a:p>
        </p:txBody>
      </p:sp>
      <p:pic>
        <p:nvPicPr>
          <p:cNvPr id="8" name="Picture 7">
            <a:extLst>
              <a:ext uri="{FF2B5EF4-FFF2-40B4-BE49-F238E27FC236}">
                <a16:creationId xmlns:a16="http://schemas.microsoft.com/office/drawing/2014/main" id="{2E1FD2CE-69B7-C4B7-2232-D038C5A9E0EE}"/>
              </a:ext>
            </a:extLst>
          </p:cNvPr>
          <p:cNvPicPr>
            <a:picLocks noChangeAspect="1"/>
          </p:cNvPicPr>
          <p:nvPr/>
        </p:nvPicPr>
        <p:blipFill>
          <a:blip r:embed="rId3"/>
          <a:stretch>
            <a:fillRect/>
          </a:stretch>
        </p:blipFill>
        <p:spPr>
          <a:xfrm>
            <a:off x="1333500" y="771747"/>
            <a:ext cx="8991600" cy="5763014"/>
          </a:xfrm>
          <a:prstGeom prst="rect">
            <a:avLst/>
          </a:prstGeom>
        </p:spPr>
      </p:pic>
      <p:sp>
        <p:nvSpPr>
          <p:cNvPr id="9" name="TextBox 8">
            <a:extLst>
              <a:ext uri="{FF2B5EF4-FFF2-40B4-BE49-F238E27FC236}">
                <a16:creationId xmlns:a16="http://schemas.microsoft.com/office/drawing/2014/main" id="{34DDFB4D-57BF-148D-FC46-D25AF367AA03}"/>
              </a:ext>
            </a:extLst>
          </p:cNvPr>
          <p:cNvSpPr txBox="1"/>
          <p:nvPr/>
        </p:nvSpPr>
        <p:spPr>
          <a:xfrm>
            <a:off x="11250930" y="6570777"/>
            <a:ext cx="1676400" cy="215444"/>
          </a:xfrm>
          <a:prstGeom prst="rect">
            <a:avLst/>
          </a:prstGeom>
          <a:noFill/>
        </p:spPr>
        <p:txBody>
          <a:bodyPr wrap="square" rtlCol="0">
            <a:spAutoFit/>
          </a:bodyPr>
          <a:lstStyle/>
          <a:p>
            <a:r>
              <a:rPr lang="en-US" sz="800" dirty="0">
                <a:solidFill>
                  <a:schemeClr val="bg1">
                    <a:lumMod val="65000"/>
                  </a:schemeClr>
                </a:solidFill>
              </a:rPr>
              <a:t>Visualized by AI</a:t>
            </a:r>
            <a:endParaRPr lang="en-IN" sz="800" dirty="0">
              <a:solidFill>
                <a:schemeClr val="bg1">
                  <a:lumMod val="65000"/>
                </a:schemeClr>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285552" y="891145"/>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970318"/>
          </a:xfrm>
          <a:prstGeom prst="rect">
            <a:avLst/>
          </a:prstGeom>
          <a:noFill/>
        </p:spPr>
        <p:txBody>
          <a:bodyPr wrap="square" rtlCol="0">
            <a:spAutoFit/>
          </a:bodyPr>
          <a:lstStyle/>
          <a:p>
            <a:pPr marL="285750" indent="-285750">
              <a:buFont typeface="Wingdings" panose="05000000000000000000" pitchFamily="2" charset="2"/>
              <a:buChar char="§"/>
            </a:pPr>
            <a:r>
              <a:rPr lang="en-US" sz="1800" dirty="0"/>
              <a:t>Foundation Model to provide intelligent career guidance through natural language conversations. Instead of relying on fixed answers, the assistant understands the user's questions and generates responses based on the context of the conversation.</a:t>
            </a:r>
          </a:p>
          <a:p>
            <a:pPr marL="285750" indent="-285750">
              <a:buFont typeface="Wingdings" panose="05000000000000000000" pitchFamily="2" charset="2"/>
              <a:buChar char="§"/>
            </a:pPr>
            <a:r>
              <a:rPr lang="en-US" sz="1800" dirty="0"/>
              <a:t>The AI helps students explore suitable career options, understand different courses, learn about required skills, and receive step-by-step guidance based on their interests. It can answer follow-up questions, explain concepts in simple language, and provide quick information without requiring users to search through multiple websites.</a:t>
            </a:r>
          </a:p>
          <a:p>
            <a:pPr marL="285750" indent="-285750">
              <a:buFont typeface="Wingdings" panose="05000000000000000000" pitchFamily="2" charset="2"/>
              <a:buChar char="§"/>
            </a:pPr>
            <a:r>
              <a:rPr lang="en-US" sz="1800" dirty="0"/>
              <a:t>Since the assistant is available online, students can access career guidance anytime through the web interface. This makes the system easy to use, accessible, and capable of providing consistent support whenever needed.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628797" y="151784"/>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3200" b="1" dirty="0">
                <a:sym typeface="Times New Roman"/>
              </a:rPr>
              <a:t>Token Usage </a:t>
            </a:r>
            <a:endParaRPr sz="3200" b="1" dirty="0">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628797" y="837760"/>
            <a:ext cx="4131808"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lumMod val="65000"/>
                  </a:schemeClr>
                </a:solidFill>
              </a:rPr>
              <a:t>9550 token are used (on first attempt , may be more after multiple test)</a:t>
            </a:r>
          </a:p>
        </p:txBody>
      </p:sp>
      <p:sp>
        <p:nvSpPr>
          <p:cNvPr id="14" name="TextBox 13">
            <a:extLst>
              <a:ext uri="{FF2B5EF4-FFF2-40B4-BE49-F238E27FC236}">
                <a16:creationId xmlns:a16="http://schemas.microsoft.com/office/drawing/2014/main" id="{7B8E599E-5B1D-59CD-4F1D-CEF8D0CA327B}"/>
              </a:ext>
            </a:extLst>
          </p:cNvPr>
          <p:cNvSpPr txBox="1"/>
          <p:nvPr/>
        </p:nvSpPr>
        <p:spPr>
          <a:xfrm>
            <a:off x="1487496" y="1719615"/>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u="sng" dirty="0"/>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u="sng" dirty="0"/>
              <a:t>After the Prompt</a:t>
            </a:r>
          </a:p>
        </p:txBody>
      </p:sp>
      <p:pic>
        <p:nvPicPr>
          <p:cNvPr id="3" name="Picture 2">
            <a:extLst>
              <a:ext uri="{FF2B5EF4-FFF2-40B4-BE49-F238E27FC236}">
                <a16:creationId xmlns:a16="http://schemas.microsoft.com/office/drawing/2014/main" id="{9A17F56F-1400-0D3E-64F2-D8A397720788}"/>
              </a:ext>
            </a:extLst>
          </p:cNvPr>
          <p:cNvPicPr>
            <a:picLocks noChangeAspect="1"/>
          </p:cNvPicPr>
          <p:nvPr/>
        </p:nvPicPr>
        <p:blipFill>
          <a:blip r:embed="rId3"/>
          <a:stretch>
            <a:fillRect/>
          </a:stretch>
        </p:blipFill>
        <p:spPr>
          <a:xfrm>
            <a:off x="793192" y="2719020"/>
            <a:ext cx="4700672" cy="2442492"/>
          </a:xfrm>
          <a:prstGeom prst="rect">
            <a:avLst/>
          </a:prstGeom>
        </p:spPr>
      </p:pic>
      <p:pic>
        <p:nvPicPr>
          <p:cNvPr id="6" name="Picture 5">
            <a:extLst>
              <a:ext uri="{FF2B5EF4-FFF2-40B4-BE49-F238E27FC236}">
                <a16:creationId xmlns:a16="http://schemas.microsoft.com/office/drawing/2014/main" id="{B56FFE65-8FE8-74E6-D78C-E8D998D0B645}"/>
              </a:ext>
            </a:extLst>
          </p:cNvPr>
          <p:cNvPicPr>
            <a:picLocks noChangeAspect="1"/>
          </p:cNvPicPr>
          <p:nvPr/>
        </p:nvPicPr>
        <p:blipFill>
          <a:blip r:embed="rId4"/>
          <a:stretch>
            <a:fillRect/>
          </a:stretch>
        </p:blipFill>
        <p:spPr>
          <a:xfrm>
            <a:off x="7073293" y="2119725"/>
            <a:ext cx="2810267" cy="3791479"/>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445008" y="309929"/>
            <a:ext cx="7123176" cy="584775"/>
          </a:xfrm>
          <a:prstGeom prst="rect">
            <a:avLst/>
          </a:prstGeom>
          <a:noFill/>
        </p:spPr>
        <p:txBody>
          <a:bodyPr wrap="square" rtlCol="0">
            <a:spAutoFit/>
          </a:bodyPr>
          <a:lstStyle/>
          <a:p>
            <a:r>
              <a:rPr lang="en-US" sz="3200" b="1" dirty="0"/>
              <a:t>Novelty and Uniqueness</a:t>
            </a:r>
            <a:endParaRPr lang="en-IN" sz="32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445008" y="1092339"/>
            <a:ext cx="11301984" cy="5632311"/>
          </a:xfrm>
          <a:prstGeom prst="rect">
            <a:avLst/>
          </a:prstGeom>
          <a:noFill/>
        </p:spPr>
        <p:txBody>
          <a:bodyPr wrap="square" rtlCol="0">
            <a:spAutoFit/>
          </a:bodyPr>
          <a:lstStyle/>
          <a:p>
            <a:r>
              <a:rPr lang="en-US" sz="2000" dirty="0" err="1"/>
              <a:t>CareerCompass</a:t>
            </a:r>
            <a:r>
              <a:rPr lang="en-US" sz="2000" dirty="0"/>
              <a:t> is designed to make career guidance simple, accessible, and available to every student through an AI-powered web assistant. Unlike searching across multiple websites, users can ask questions in natural language and receive clear, personalized responses in a single conversation.</a:t>
            </a:r>
          </a:p>
          <a:p>
            <a:r>
              <a:rPr lang="en-US" sz="2000" dirty="0"/>
              <a:t>The project combines IBM </a:t>
            </a:r>
            <a:r>
              <a:rPr lang="en-US" sz="2000" dirty="0" err="1"/>
              <a:t>watsonx</a:t>
            </a:r>
            <a:r>
              <a:rPr lang="en-US" sz="2000" dirty="0"/>
              <a:t> Assistant with the IBM Granite Foundation Model to create a smooth conversational experience. It is integrated into a responsive website, allowing users to access career guidance directly from any modern web browser without installing additional software.</a:t>
            </a:r>
          </a:p>
          <a:p>
            <a:r>
              <a:rPr lang="en-US" sz="2000" b="1" dirty="0"/>
              <a:t>Key Highlights</a:t>
            </a:r>
          </a:p>
          <a:p>
            <a:pPr marL="342900" indent="-342900">
              <a:buFont typeface="Arial" panose="020B0604020202020204" pitchFamily="34" charset="0"/>
              <a:buChar char="•"/>
            </a:pPr>
            <a:r>
              <a:rPr lang="en-US" sz="2000" dirty="0"/>
              <a:t>Provides instant career guidance through an AI-powered conversational interface. </a:t>
            </a:r>
          </a:p>
          <a:p>
            <a:pPr marL="342900" indent="-342900">
              <a:buFont typeface="Arial" panose="020B0604020202020204" pitchFamily="34" charset="0"/>
              <a:buChar char="•"/>
            </a:pPr>
            <a:r>
              <a:rPr lang="en-US" sz="2000" dirty="0"/>
              <a:t>Uses IBM Granite to generate clear and context-aware responses. </a:t>
            </a:r>
          </a:p>
          <a:p>
            <a:pPr marL="342900" indent="-342900">
              <a:buFont typeface="Arial" panose="020B0604020202020204" pitchFamily="34" charset="0"/>
              <a:buChar char="•"/>
            </a:pPr>
            <a:r>
              <a:rPr lang="en-US" sz="2000" dirty="0"/>
              <a:t>Simple and user-friendly website that is easy to access from any device. </a:t>
            </a:r>
          </a:p>
          <a:p>
            <a:pPr marL="342900" indent="-342900">
              <a:buFont typeface="Arial" panose="020B0604020202020204" pitchFamily="34" charset="0"/>
              <a:buChar char="•"/>
            </a:pPr>
            <a:r>
              <a:rPr lang="en-US" sz="2000" dirty="0"/>
              <a:t>Saves time by bringing career information into one place instead of multiple websites. </a:t>
            </a:r>
          </a:p>
          <a:p>
            <a:pPr marL="342900" indent="-342900">
              <a:buFont typeface="Arial" panose="020B0604020202020204" pitchFamily="34" charset="0"/>
              <a:buChar char="•"/>
            </a:pPr>
            <a:r>
              <a:rPr lang="en-US" sz="2000" dirty="0"/>
              <a:t>Can be expanded in the future with aptitude tests, college recommendations, resume building, interview preparation, and multilingual support. </a:t>
            </a:r>
          </a:p>
          <a:p>
            <a:pPr marL="342900" indent="-342900">
              <a:buFont typeface="Arial" panose="020B0604020202020204" pitchFamily="34" charset="0"/>
              <a:buChar char="•"/>
            </a:pPr>
            <a:r>
              <a:rPr lang="en-US" sz="2000" dirty="0"/>
              <a:t>Built using modern IBM AI technologies, making the solution scalable and easy to enhance with additional features.</a:t>
            </a:r>
          </a:p>
          <a:p>
            <a:endParaRPr lang="en-IN" sz="2000" dirty="0"/>
          </a:p>
        </p:txBody>
      </p:sp>
    </p:spTree>
    <p:extLst>
      <p:ext uri="{BB962C8B-B14F-4D97-AF65-F5344CB8AC3E}">
        <p14:creationId xmlns:p14="http://schemas.microsoft.com/office/powerpoint/2010/main" val="917964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513874" y="217481"/>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200" b="1" dirty="0">
                <a:sym typeface="Times New Roman"/>
              </a:rPr>
              <a:t>Git Hub Link</a:t>
            </a:r>
            <a:endParaRPr sz="32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221715"/>
            <a:ext cx="9233154" cy="4277001"/>
          </a:xfrm>
          <a:prstGeom prst="rect">
            <a:avLst/>
          </a:prstGeom>
          <a:noFill/>
          <a:ln>
            <a:noFill/>
          </a:ln>
        </p:spPr>
        <p:txBody>
          <a:bodyPr spcFirstLastPara="1" wrap="square" lIns="0" tIns="0" rIns="0" bIns="0" anchor="t" anchorCtr="0">
            <a:noAutofit/>
          </a:bodyPr>
          <a:lstStyle/>
          <a:p>
            <a:pPr lvl="1">
              <a:lnSpc>
                <a:spcPct val="162162"/>
              </a:lnSpc>
              <a:buClr>
                <a:srgbClr val="2B3541"/>
              </a:buClr>
              <a:buSzPts val="1850"/>
            </a:pPr>
            <a:r>
              <a:rPr lang="en-US" sz="2400" dirty="0">
                <a:solidFill>
                  <a:srgbClr val="2B3541"/>
                </a:solidFill>
                <a:latin typeface="Times New Roman"/>
                <a:ea typeface="Times New Roman"/>
                <a:cs typeface="Times New Roman"/>
                <a:sym typeface="Times New Roman"/>
              </a:rPr>
              <a:t>Repo Link : </a:t>
            </a:r>
            <a:r>
              <a:rPr lang="en-US" sz="2400" dirty="0">
                <a:solidFill>
                  <a:srgbClr val="2B3541"/>
                </a:solidFill>
                <a:latin typeface="Times New Roman"/>
                <a:ea typeface="Times New Roman"/>
                <a:cs typeface="Times New Roman"/>
                <a:sym typeface="Times New Roman"/>
                <a:hlinkClick r:id="rId3"/>
              </a:rPr>
              <a:t>GITHUB REPO LINK</a:t>
            </a:r>
            <a:endParaRPr lang="en-US" sz="2400" dirty="0">
              <a:solidFill>
                <a:srgbClr val="2B3541"/>
              </a:solidFill>
              <a:latin typeface="Times New Roman"/>
              <a:ea typeface="Times New Roman"/>
              <a:cs typeface="Times New Roman"/>
              <a:sym typeface="Times New Roman"/>
            </a:endParaRPr>
          </a:p>
          <a:p>
            <a:pPr lvl="1">
              <a:lnSpc>
                <a:spcPct val="162162"/>
              </a:lnSpc>
              <a:buClr>
                <a:srgbClr val="2B3541"/>
              </a:buClr>
              <a:buSzPts val="1850"/>
            </a:pPr>
            <a:r>
              <a:rPr lang="en-US" sz="2400" dirty="0">
                <a:solidFill>
                  <a:srgbClr val="2B3541"/>
                </a:solidFill>
                <a:latin typeface="Times New Roman"/>
                <a:ea typeface="Times New Roman"/>
                <a:cs typeface="Times New Roman"/>
              </a:rPr>
              <a:t>Files Structure:</a:t>
            </a:r>
          </a:p>
          <a:p>
            <a:pPr marL="400050" lvl="7" indent="-400050">
              <a:lnSpc>
                <a:spcPct val="162162"/>
              </a:lnSpc>
              <a:buClr>
                <a:srgbClr val="2B3541"/>
              </a:buClr>
              <a:buSzPts val="1850"/>
              <a:buFont typeface="+mj-lt"/>
              <a:buAutoNum type="romanLcPeriod"/>
            </a:pPr>
            <a:r>
              <a:rPr lang="en-IN" sz="2000" dirty="0"/>
              <a:t>index.html</a:t>
            </a:r>
          </a:p>
          <a:p>
            <a:pPr marL="400050" lvl="7" indent="-400050">
              <a:lnSpc>
                <a:spcPct val="162162"/>
              </a:lnSpc>
              <a:buClr>
                <a:srgbClr val="2B3541"/>
              </a:buClr>
              <a:buSzPts val="1850"/>
              <a:buFont typeface="+mj-lt"/>
              <a:buAutoNum type="romanLcPeriod"/>
            </a:pPr>
            <a:r>
              <a:rPr lang="en-IN" sz="2000" dirty="0"/>
              <a:t>README.md</a:t>
            </a:r>
          </a:p>
          <a:p>
            <a:pPr marL="400050" lvl="7" indent="-400050">
              <a:lnSpc>
                <a:spcPct val="162162"/>
              </a:lnSpc>
              <a:buClr>
                <a:srgbClr val="2B3541"/>
              </a:buClr>
              <a:buSzPts val="1850"/>
              <a:buFont typeface="+mj-lt"/>
              <a:buAutoNum type="romanLcPeriod"/>
            </a:pPr>
            <a:r>
              <a:rPr lang="en-IN" sz="2000" dirty="0"/>
              <a:t>Project Presentation.pptx</a:t>
            </a:r>
          </a:p>
          <a:p>
            <a:pPr marL="400050" lvl="7" indent="-400050">
              <a:lnSpc>
                <a:spcPct val="162162"/>
              </a:lnSpc>
              <a:buClr>
                <a:srgbClr val="2B3541"/>
              </a:buClr>
              <a:buSzPts val="1850"/>
              <a:buFont typeface="+mj-lt"/>
              <a:buAutoNum type="romanLcPeriod"/>
            </a:pPr>
            <a:r>
              <a:rPr lang="en-IN" sz="2000" dirty="0"/>
              <a:t>ProblemStatement.pdf</a:t>
            </a:r>
            <a:endParaRPr lang="en-US" sz="2000" dirty="0">
              <a:solidFill>
                <a:srgbClr val="2B3541"/>
              </a:solidFill>
              <a:latin typeface="Times New Roman"/>
              <a:ea typeface="Times New Roman"/>
              <a:cs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706695" y="2977191"/>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628174" y="248497"/>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200" b="1" dirty="0">
                <a:sym typeface="Times New Roman"/>
              </a:rPr>
              <a:t>Future Scope </a:t>
            </a:r>
            <a:endParaRPr sz="32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62817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2B3541"/>
              </a:buClr>
              <a:buSzPts val="1850"/>
              <a:buFont typeface="Times New Roman"/>
              <a:buNone/>
            </a:pPr>
            <a:r>
              <a:rPr lang="en-US" sz="2000" dirty="0" err="1"/>
              <a:t>CareerCompass</a:t>
            </a:r>
            <a:r>
              <a:rPr lang="en-US" sz="2000" dirty="0"/>
              <a:t> can be enhanced with several new features to provide even better career guidance. Future versions may include AI-based aptitude tests, personalized college and course recommendations, resume and interview preparation, scholarship information, and support for multiple Indian languages. The assistant can also be integrated with student profiles to provide more personalized suggestions and track career planning progress over time.</a:t>
            </a:r>
            <a:endParaRPr sz="200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53749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Certificates Earned:</a:t>
            </a:r>
          </a:p>
          <a:p>
            <a:pPr algn="ctr"/>
            <a:endParaRPr lang="en-US" dirty="0"/>
          </a:p>
        </p:txBody>
      </p:sp>
      <p:pic>
        <p:nvPicPr>
          <p:cNvPr id="5" name="Picture 4">
            <a:extLst>
              <a:ext uri="{FF2B5EF4-FFF2-40B4-BE49-F238E27FC236}">
                <a16:creationId xmlns:a16="http://schemas.microsoft.com/office/drawing/2014/main" id="{69F70BD3-88AC-4692-222D-1C6C48668C01}"/>
              </a:ext>
            </a:extLst>
          </p:cNvPr>
          <p:cNvPicPr>
            <a:picLocks noChangeAspect="1"/>
          </p:cNvPicPr>
          <p:nvPr/>
        </p:nvPicPr>
        <p:blipFill>
          <a:blip r:embed="rId2"/>
          <a:stretch>
            <a:fillRect/>
          </a:stretch>
        </p:blipFill>
        <p:spPr>
          <a:xfrm>
            <a:off x="2533650" y="884488"/>
            <a:ext cx="7470658" cy="5581022"/>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519596" y="1882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dirty="0">
                <a:solidFill>
                  <a:srgbClr val="000000"/>
                </a:solidFill>
                <a:latin typeface="Arial"/>
              </a:rPr>
              <a:t>Certificates Earned:</a:t>
            </a:r>
            <a:r>
              <a:rPr sz="2400" b="0" i="0" dirty="0">
                <a:solidFill>
                  <a:srgbClr val="000000"/>
                </a:solidFill>
                <a:latin typeface="Arial"/>
                <a:ea typeface="Arial"/>
                <a:cs typeface="Arial"/>
              </a:rPr>
              <a:t>​</a:t>
            </a:r>
            <a:endParaRPr lang="en-US" dirty="0"/>
          </a:p>
          <a:p>
            <a:pPr algn="ctr"/>
            <a:endParaRPr lang="en-US" dirty="0"/>
          </a:p>
        </p:txBody>
      </p:sp>
      <p:pic>
        <p:nvPicPr>
          <p:cNvPr id="3" name="Picture 2">
            <a:extLst>
              <a:ext uri="{FF2B5EF4-FFF2-40B4-BE49-F238E27FC236}">
                <a16:creationId xmlns:a16="http://schemas.microsoft.com/office/drawing/2014/main" id="{6D5817C7-3827-1C1B-B263-4070F56FA19F}"/>
              </a:ext>
            </a:extLst>
          </p:cNvPr>
          <p:cNvPicPr>
            <a:picLocks noChangeAspect="1"/>
          </p:cNvPicPr>
          <p:nvPr/>
        </p:nvPicPr>
        <p:blipFill>
          <a:blip r:embed="rId2"/>
          <a:stretch>
            <a:fillRect/>
          </a:stretch>
        </p:blipFill>
        <p:spPr>
          <a:xfrm>
            <a:off x="2223006" y="1947651"/>
            <a:ext cx="8099380" cy="3862599"/>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899</Words>
  <Application>Microsoft Office PowerPoint</Application>
  <PresentationFormat>Widescreen</PresentationFormat>
  <Paragraphs>80</Paragraphs>
  <Slides>15</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Times New Roman</vt:lpstr>
      <vt:lpstr>Wingdings</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24-25_VEDANT MORE_F.Y.B.SC(IT) SEM-I</cp:lastModifiedBy>
  <cp:revision>16</cp:revision>
  <dcterms:created xsi:type="dcterms:W3CDTF">2025-07-08T05:06:56Z</dcterms:created>
  <dcterms:modified xsi:type="dcterms:W3CDTF">2026-06-26T16:06:17Z</dcterms:modified>
</cp:coreProperties>
</file>